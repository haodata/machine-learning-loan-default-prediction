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6" r:id="rId9"/>
    <p:sldId id="264" r:id="rId10"/>
    <p:sldId id="265" r:id="rId11"/>
    <p:sldId id="262" r:id="rId12"/>
    <p:sldId id="263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Class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1E3-485B-B4CB-756E1D27767C}"/>
              </c:ext>
            </c:extLst>
          </c:dPt>
          <c:dPt>
            <c:idx val="1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1E3-485B-B4CB-756E1D27767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1300" b="0" i="0" u="none" strike="noStrike">
                        <a:solidFill>
                          <a:srgbClr val="000000"/>
                        </a:solidFill>
                        <a:latin typeface="Arial"/>
                      </a:defRPr>
                    </a:pPr>
                    <a:fld id="{FF24EF12-E3EF-45B3-A46D-AB4794312AA7}" type="PERCENTAGE">
                      <a:rPr lang="en-US" altLang="zh-CN">
                        <a:solidFill>
                          <a:schemeClr val="bg1"/>
                        </a:solidFill>
                      </a:rPr>
                      <a:pPr>
                        <a:defRPr sz="1300" b="0" i="0" u="none" strike="noStrike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t>[PERCENTAGE]</a:t>
                    </a:fld>
                    <a:endParaRPr lang="zh-CN" altLang="en-US"/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01E3-485B-B4CB-756E1D27767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pPr>
                      <a:defRPr sz="1300" b="0" i="0" u="none" strike="noStrike">
                        <a:solidFill>
                          <a:srgbClr val="000000"/>
                        </a:solidFill>
                        <a:latin typeface="Arial"/>
                      </a:defRPr>
                    </a:pPr>
                    <a:fld id="{1E548FC3-2514-4982-82B7-976CE0D5B6B2}" type="PERCENTAGE">
                      <a:rPr lang="en-US" altLang="zh-CN">
                        <a:solidFill>
                          <a:schemeClr val="bg1"/>
                        </a:solidFill>
                      </a:rPr>
                      <a:pPr>
                        <a:defRPr sz="1300" b="0" i="0" u="none" strike="noStrike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t>[PERCENTAGE]</a:t>
                    </a:fld>
                    <a:endParaRPr lang="zh-CN" altLang="en-US"/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01E3-485B-B4CB-756E1D27767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zh-CN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Approved (62%)</c:v>
                </c:pt>
                <c:pt idx="1">
                  <c:v>Rejected (38%)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62</c:v>
                </c:pt>
                <c:pt idx="1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1E3-485B-B4CB-756E1D2776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zh-CN"/>
        </a:p>
      </c:txPr>
    </c:legend>
    <c:plotVisOnly val="1"/>
    <c:dispBlanksAs val="span"/>
    <c:showDLblsOverMax val="1"/>
  </c:chart>
  <c:spPr>
    <a:solidFill>
      <a:srgbClr val="F4F6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F1 Score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7EF-4793-ABCD-B59106B8D785}"/>
              </c:ext>
            </c:extLst>
          </c:dPt>
          <c:dPt>
            <c:idx val="1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7EF-4793-ABCD-B59106B8D785}"/>
              </c:ext>
            </c:extLst>
          </c:dPt>
          <c:dPt>
            <c:idx val="2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7EF-4793-ABCD-B59106B8D785}"/>
              </c:ext>
            </c:extLst>
          </c:dPt>
          <c:dPt>
            <c:idx val="3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7EF-4793-ABCD-B59106B8D785}"/>
              </c:ext>
            </c:extLst>
          </c:dPt>
          <c:dPt>
            <c:idx val="4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7EF-4793-ABCD-B59106B8D785}"/>
              </c:ext>
            </c:extLst>
          </c:dPt>
          <c:dLbls>
            <c:dLbl>
              <c:idx val="3"/>
              <c:tx>
                <c:rich>
                  <a:bodyPr/>
                  <a:lstStyle/>
                  <a:p>
                    <a:r>
                      <a:rPr lang="en-US" altLang="zh-CN" dirty="0"/>
                      <a:t>0.9970</a:t>
                    </a:r>
                  </a:p>
                  <a:p>
                    <a:endParaRPr lang="en-US" altLang="zh-CN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67EF-4793-ABCD-B59106B8D785}"/>
                </c:ext>
              </c:extLst>
            </c:dLbl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Logistic
Regression</c:v>
                </c:pt>
                <c:pt idx="1">
                  <c:v>KNN</c:v>
                </c:pt>
                <c:pt idx="2">
                  <c:v>CIBIL
Baseline</c:v>
                </c:pt>
                <c:pt idx="3">
                  <c:v>Gradient
Boosting</c:v>
                </c:pt>
                <c:pt idx="4">
                  <c:v>Random
Forest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0.94830000000000003</c:v>
                </c:pt>
                <c:pt idx="1">
                  <c:v>0.95709999999999995</c:v>
                </c:pt>
                <c:pt idx="2">
                  <c:v>0.96150000000000002</c:v>
                </c:pt>
                <c:pt idx="3">
                  <c:v>0.997</c:v>
                </c:pt>
                <c:pt idx="4">
                  <c:v>0.997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7EF-4793-ABCD-B59106B8D78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endParaRPr lang="zh-CN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9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zh-CN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6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9772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6062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Default Prediction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Intelligent Assessment System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2971800"/>
            <a:ext cx="3657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| Random Forest | CIBIL Credit Scoring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Problem Statement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7432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Pain Point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37744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defaults cause massive financial losses for banks and lenders each year, making accurate risk prediction critical.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051560"/>
            <a:ext cx="27432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74720" y="1828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Approach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0" y="237744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banks rely on simple threshold rules (e.g. CIBIL S</a:t>
            </a:r>
            <a:r>
              <a:rPr lang="en-US" altLang="zh-CN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≥ 550), which miss complex multi-factor risk patterns.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051560"/>
            <a:ext cx="27432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4652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46520" y="1828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237744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machine learning model that predicts loan defaults more accurately using all available applicant features.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143000"/>
            <a:ext cx="5029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43000"/>
            <a:ext cx="73152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5272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74520" y="125272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Approved / Rejected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947672"/>
            <a:ext cx="5029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947672"/>
            <a:ext cx="73152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574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Split: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74520" y="20574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Approved  |  38% Rejected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752344"/>
            <a:ext cx="5029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752344"/>
            <a:ext cx="73152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86207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74520" y="286207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CIBIL Score (near-perfect predictor)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557016"/>
            <a:ext cx="5029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557016"/>
            <a:ext cx="73152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666744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71625" y="3666744"/>
            <a:ext cx="36861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Credit / Credit Information Bureau Limited (CIBIL)</a:t>
            </a:r>
            <a:endParaRPr lang="en-US" sz="1200" dirty="0"/>
          </a:p>
        </p:txBody>
      </p:sp>
      <p:graphicFrame>
        <p:nvGraphicFramePr>
          <p:cNvPr id="19" name="Chart 0"/>
          <p:cNvGraphicFramePr/>
          <p:nvPr>
            <p:extLst>
              <p:ext uri="{D42A27DB-BD31-4B8C-83A1-F6EECF244321}">
                <p14:modId xmlns:p14="http://schemas.microsoft.com/office/powerpoint/2010/main" val="3670555562"/>
              </p:ext>
            </p:extLst>
          </p:nvPr>
        </p:nvGraphicFramePr>
        <p:xfrm>
          <a:off x="5669280" y="914400"/>
          <a:ext cx="32004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Text 17"/>
          <p:cNvSpPr/>
          <p:nvPr/>
        </p:nvSpPr>
        <p:spPr>
          <a:xfrm>
            <a:off x="5669280" y="4434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402336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1 — DummyClassifier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predicts "Approved" (majority class)
</a:t>
            </a: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  |  </a:t>
            </a: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
</a:t>
            </a: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Score: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0.7671
</a:t>
            </a: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intelligence — but already 77% F1. This is the floor any useful model must beat.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51560"/>
            <a:ext cx="402336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972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2 — CIBIL Rule (≥ 550)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69164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threshold business rule
</a:t>
            </a: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0.9536  |  </a:t>
            </a: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0.9615
</a:t>
            </a: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rule reaches 96% F1 — because CIBIL score is a near-perfect predictor in this dataset. ML must beat this to add value.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0624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E2761"/>
                </a:solidFill>
              </a:rPr>
              <a:t>→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Machine Learning Over Rules?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3200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CIBIL Rule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Basis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score threshold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features combined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— manual changes needed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Learns from data automatically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Patterns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capture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Captures non-linear interactions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to extend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Retrain with new data easily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0.9970 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446227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reach 96% — ML squeezes out the remaining 3.5%, preventing real financial losses at scale.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What Changed from Raw Data?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38404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332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data — 13 columns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3840480" cy="224028"/>
          </a:xfrm>
          <a:prstGeom prst="rect">
            <a:avLst/>
          </a:prstGeom>
          <a:solidFill>
            <a:srgbClr val="FDEDEC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490472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loan_id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920240" y="1490472"/>
            <a:ext cx="2103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696212"/>
            <a:ext cx="3840480" cy="224028"/>
          </a:xfrm>
          <a:prstGeom prst="rect">
            <a:avLst/>
          </a:prstGeom>
          <a:solidFill>
            <a:srgbClr val="E1F5EE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723644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no_of_dependents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920240" y="1723644"/>
            <a:ext cx="2103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929384"/>
            <a:ext cx="3840480" cy="224028"/>
          </a:xfrm>
          <a:prstGeom prst="rect">
            <a:avLst/>
          </a:prstGeom>
          <a:solidFill>
            <a:srgbClr val="EBF5FB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956816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920240" y="1956816"/>
            <a:ext cx="2103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→  education_Graduate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162556"/>
            <a:ext cx="3840480" cy="224028"/>
          </a:xfrm>
          <a:prstGeom prst="rect">
            <a:avLst/>
          </a:prstGeom>
          <a:solidFill>
            <a:srgbClr val="EBF5FB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189988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self_employed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920240" y="2189988"/>
            <a:ext cx="2103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→  self_employed_Yes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395728"/>
            <a:ext cx="3840480" cy="224028"/>
          </a:xfrm>
          <a:prstGeom prst="rect">
            <a:avLst/>
          </a:prstGeom>
          <a:solidFill>
            <a:srgbClr val="E1F5EE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423160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income_annum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920240" y="2423160"/>
            <a:ext cx="2103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628900"/>
            <a:ext cx="3840480" cy="224028"/>
          </a:xfrm>
          <a:prstGeom prst="rect">
            <a:avLst/>
          </a:prstGeom>
          <a:solidFill>
            <a:srgbClr val="E1F5EE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656332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loan_amount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920240" y="2656332"/>
            <a:ext cx="2103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862072"/>
            <a:ext cx="3840480" cy="224028"/>
          </a:xfrm>
          <a:prstGeom prst="rect">
            <a:avLst/>
          </a:prstGeom>
          <a:solidFill>
            <a:srgbClr val="E1F5EE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2889504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loan_term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920240" y="2889504"/>
            <a:ext cx="2103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095244"/>
            <a:ext cx="3840480" cy="224028"/>
          </a:xfrm>
          <a:prstGeom prst="rect">
            <a:avLst/>
          </a:prstGeom>
          <a:solidFill>
            <a:srgbClr val="E1F5EE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3122676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cibil_score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920240" y="3122676"/>
            <a:ext cx="2103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(raw value)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3328416"/>
            <a:ext cx="3840480" cy="224028"/>
          </a:xfrm>
          <a:prstGeom prst="rect">
            <a:avLst/>
          </a:prstGeom>
          <a:solidFill>
            <a:srgbClr val="F5EEF8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355848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residential_assets_value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920240" y="3355848"/>
            <a:ext cx="2103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↓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3561588"/>
            <a:ext cx="3840480" cy="224028"/>
          </a:xfrm>
          <a:prstGeom prst="rect">
            <a:avLst/>
          </a:prstGeom>
          <a:solidFill>
            <a:srgbClr val="F5EEF8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3589020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commercial_assets_value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920240" y="3589020"/>
            <a:ext cx="2103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↓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3794760"/>
            <a:ext cx="3840480" cy="224028"/>
          </a:xfrm>
          <a:prstGeom prst="rect">
            <a:avLst/>
          </a:prstGeom>
          <a:solidFill>
            <a:srgbClr val="F5EEF8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3822192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luxury_assets_value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920240" y="3822192"/>
            <a:ext cx="2103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↓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4027932"/>
            <a:ext cx="3840480" cy="224028"/>
          </a:xfrm>
          <a:prstGeom prst="rect">
            <a:avLst/>
          </a:prstGeom>
          <a:solidFill>
            <a:srgbClr val="F5EEF8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" y="4055364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bank_asset_value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920240" y="4055364"/>
            <a:ext cx="2103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↓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4261104"/>
            <a:ext cx="3840480" cy="224028"/>
          </a:xfrm>
          <a:prstGeom prst="rect">
            <a:avLst/>
          </a:prstGeom>
          <a:solidFill>
            <a:srgbClr val="F5EEF8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4288536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loan_status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920240" y="4288536"/>
            <a:ext cx="2103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4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389120" y="1005840"/>
            <a:ext cx="443484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34840" y="1033272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 created — 4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389120" y="1481328"/>
            <a:ext cx="4434840" cy="731520"/>
          </a:xfrm>
          <a:prstGeom prst="rect">
            <a:avLst/>
          </a:prstGeom>
          <a:solidFill>
            <a:srgbClr val="F5EEF8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389120" y="1481328"/>
            <a:ext cx="64008" cy="73152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26280" y="15270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 total_assets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26280" y="177393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+ commercial + luxury + bank_asset_value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526280" y="197510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4 asset columns into one cleaner signal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389120" y="2286000"/>
            <a:ext cx="4434840" cy="731520"/>
          </a:xfrm>
          <a:prstGeom prst="rect">
            <a:avLst/>
          </a:prstGeom>
          <a:solidFill>
            <a:srgbClr val="E1F5EE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389120" y="2286000"/>
            <a:ext cx="64008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26280" y="23317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 loan_to_income_ratio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526280" y="257860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loan_amount  ÷  income_annum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526280" y="277977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large is the loan relative to earnings?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389120" y="3090672"/>
            <a:ext cx="4434840" cy="731520"/>
          </a:xfrm>
          <a:prstGeom prst="rect">
            <a:avLst/>
          </a:prstGeom>
          <a:solidFill>
            <a:srgbClr val="EBF5FB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389120" y="3090672"/>
            <a:ext cx="64008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26280" y="313639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 payment_to_income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526280" y="338328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(loan_amount ÷ loan_term)  ÷  income_annum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4526280" y="35844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repayment burden vs income — #2 most important feature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389120" y="3895344"/>
            <a:ext cx="4434840" cy="731520"/>
          </a:xfrm>
          <a:prstGeom prst="rect">
            <a:avLst/>
          </a:prstGeom>
          <a:solidFill>
            <a:srgbClr val="F2F3F4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389120" y="3895344"/>
            <a:ext cx="64008" cy="731520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26280" y="394106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 income_per_dependent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4526280" y="418795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income_annum  ÷  (no_of_dependents + 1)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4526280" y="438912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disposable income per person in household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74320" y="4645152"/>
            <a:ext cx="854964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47472" y="4663440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raw columns  →  Delete 1  ·  Encode 2  ·  Merge 4 into 1  ·  Add 4 new  =  11 final features into the model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096445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(Cross-Validation F1)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3805249701"/>
              </p:ext>
            </p:extLst>
          </p:nvPr>
        </p:nvGraphicFramePr>
        <p:xfrm>
          <a:off x="365760" y="1005840"/>
          <a:ext cx="841248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CIBIL Baseline = 0.9615  |  ✅ Random Forest &amp; Gradient Boosting beat the baseline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Use Accuracy as the Main Metric?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4114800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332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Accuracy Trap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444752"/>
            <a:ext cx="41148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5087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a dataset where: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95% of loans are Approved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5% of loans are Rejected (defaulters)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2423160"/>
            <a:ext cx="3749040" cy="566928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4505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ALWAYS says "Approved":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7066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= 95%  ✅  (looks great!)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0632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 misses 100% of defaulters.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= 0%  →  Every bad loan gets approved.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3822192"/>
            <a:ext cx="374904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8404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≠ Good model when data is imbalanced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416052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03327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Metrics for Imbalanced Data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1508760"/>
            <a:ext cx="416052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154533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(Sensitivity)  |  TP / (TP + FN)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36592" y="183794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all real defaulters — critical in finance. Missing one is costly.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258568"/>
            <a:ext cx="416052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229514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 |  TP / (TP + FP)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36592" y="258775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those flagged as default, how many truly are? Avoids over-rejection.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3008376"/>
            <a:ext cx="4160520" cy="685800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304495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  |  2 × (Precision × Recall) / (Precision + Recall)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36592" y="33375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both. Best single metric for imbalanced classification.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758184"/>
            <a:ext cx="4160520" cy="6858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3794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 |  Area under the ROC curve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36592" y="408736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overall discrimination power regardless of threshold.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4544568"/>
            <a:ext cx="8549640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4562856"/>
            <a:ext cx="8366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uses F1 + ROC-AUC as primary metrics — not accuracy — because 62/38 class split demands it.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— What Drives the Model?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60120"/>
            <a:ext cx="5303520" cy="3840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60720" y="900684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760720" y="1463040"/>
            <a:ext cx="315468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52160" y="15087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 cibil_score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852160" y="18562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 importance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852160" y="18562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Near-single-handed predictor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760720" y="2423160"/>
            <a:ext cx="315468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52160" y="24688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 payment_to_income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52160" y="28163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 importance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852160" y="28163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Repayment capacity signal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60720" y="3383280"/>
            <a:ext cx="3154680" cy="8229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52160" y="34290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 loan_to_income_ratio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852160" y="37764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 importance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852160" y="37764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burden relative to income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760720" y="4434840"/>
            <a:ext cx="31546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06440" y="4462272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CIBIL dominates — confirming why a single rule baseline was already 96% accurate.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Which Error Matters More?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4389120" cy="3474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37760" y="9601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Types of Error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937760" y="1417320"/>
            <a:ext cx="3931920" cy="1417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029200" y="14813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False Positive (FP) = 4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0" y="1874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Rejected  →  Predicted: Approved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0" y="21945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approves a loan that WILL default → Direct financial loss (bad debt)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937760" y="2971800"/>
            <a:ext cx="3931920" cy="14173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029200" y="30358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False Negative (FN) = 0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0" y="3429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EF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Approved  →  Predicted: Rejected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0" y="37490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rejects a creditworthy customer → Lost revenue, customer dissatisfied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74320" y="4526280"/>
            <a:ext cx="85953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4544568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FP is more severe — approving a defaulter costs real money. Our model achieves FP=4, FN=0. ✅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Model: Random Forest — Test Set Results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1097280"/>
            <a:ext cx="2560320" cy="1645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12801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99.53%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23591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correct predictions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2560320" cy="1645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2801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99.25%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91840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0" y="23591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false approval rate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80760" y="1097280"/>
            <a:ext cx="2560320" cy="1645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72200" y="12801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172200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72200" y="23591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missed defaults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600200" y="3017520"/>
            <a:ext cx="2560320" cy="1645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691640" y="32004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99.62%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1691640" y="3931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91640" y="42793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precision &amp; recall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80560" y="3017520"/>
            <a:ext cx="2560320" cy="1645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0" y="32004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99.96%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4572000" y="3931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0" y="42793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class discrimination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Recommendations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1104137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115900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Performance: 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926080" y="1005840"/>
            <a:ext cx="59436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CADCFC"/>
                </a:solidFill>
              </a:rPr>
              <a:t>Random Forest achieves F1=0.9962 on the test set, surpassing both baselines with zero missed defaults (Recall=100%).</a:t>
            </a:r>
          </a:p>
          <a:p>
            <a:endParaRPr lang="en-US" sz="1400" dirty="0">
              <a:solidFill>
                <a:srgbClr val="CADCFC"/>
              </a:solidFill>
            </a:endParaRPr>
          </a:p>
          <a:p>
            <a:r>
              <a:rPr lang="en-US" sz="1100" b="1" dirty="0">
                <a:solidFill>
                  <a:srgbClr val="02C39A"/>
                </a:solidFill>
              </a:rPr>
              <a:t>Key metrics:</a:t>
            </a:r>
          </a:p>
          <a:p>
            <a:r>
              <a:rPr lang="en-US" sz="1100" dirty="0">
                <a:solidFill>
                  <a:srgbClr val="CADCFC"/>
                </a:solidFill>
              </a:rPr>
              <a:t>  Best CV F1 (tuned):  </a:t>
            </a:r>
            <a:r>
              <a:rPr lang="en-US" sz="1100" b="1" dirty="0">
                <a:solidFill>
                  <a:srgbClr val="02C39A"/>
                </a:solidFill>
              </a:rPr>
              <a:t>0.9970</a:t>
            </a:r>
          </a:p>
          <a:p>
            <a:r>
              <a:rPr lang="en-US" sz="1100" dirty="0">
                <a:solidFill>
                  <a:srgbClr val="CADCFC"/>
                </a:solidFill>
              </a:rPr>
              <a:t>  Test F1:  </a:t>
            </a:r>
            <a:r>
              <a:rPr lang="en-US" sz="1100" b="1" dirty="0">
                <a:solidFill>
                  <a:srgbClr val="02C39A"/>
                </a:solidFill>
              </a:rPr>
              <a:t>0.9962</a:t>
            </a:r>
          </a:p>
          <a:p>
            <a:r>
              <a:rPr lang="en-US" sz="1100" dirty="0">
                <a:solidFill>
                  <a:srgbClr val="CADCFC"/>
                </a:solidFill>
              </a:rPr>
              <a:t>  Test ROC-AUC:  </a:t>
            </a:r>
            <a:r>
              <a:rPr lang="en-US" sz="1100" b="1" dirty="0">
                <a:solidFill>
                  <a:srgbClr val="02C39A"/>
                </a:solidFill>
              </a:rPr>
              <a:t>0.9996</a:t>
            </a:r>
          </a:p>
          <a:p>
            <a:r>
              <a:rPr lang="en-US" sz="1100" dirty="0">
                <a:solidFill>
                  <a:srgbClr val="CADCFC"/>
                </a:solidFill>
              </a:rPr>
              <a:t>  Optimal threshold:  </a:t>
            </a:r>
            <a:r>
              <a:rPr lang="en-US" sz="1100" b="1" dirty="0">
                <a:solidFill>
                  <a:srgbClr val="02C39A"/>
                </a:solidFill>
              </a:rPr>
              <a:t>0.60  |  Improvement over CIBIL rule: +3.47%</a:t>
            </a:r>
          </a:p>
        </p:txBody>
      </p:sp>
      <p:sp>
        <p:nvSpPr>
          <p:cNvPr id="7" name="Shape 5"/>
          <p:cNvSpPr/>
          <p:nvPr/>
        </p:nvSpPr>
        <p:spPr>
          <a:xfrm flipV="1">
            <a:off x="411480" y="2395304"/>
            <a:ext cx="8321040" cy="45719"/>
          </a:xfrm>
          <a:prstGeom prst="rect">
            <a:avLst/>
          </a:prstGeom>
          <a:solidFill>
            <a:srgbClr val="2A4A6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40923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🏦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73836" y="2514601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Value: 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926080" y="2298468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the CIBIL threshold rule with this model captures an additional ~3.5% of edge cases, directly reducing loan loss exposure.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29718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29260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601488"/>
            <a:ext cx="8321040" cy="45719"/>
          </a:xfrm>
          <a:prstGeom prst="rect">
            <a:avLst/>
          </a:prstGeom>
          <a:solidFill>
            <a:srgbClr val="2A4A6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9319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05840" y="398449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926080" y="3802655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scoring API, monitor for distribution drift, and schedule periodic retraining as new loan data accumulates.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1082</Words>
  <Application>Microsoft Office PowerPoint</Application>
  <PresentationFormat>On-screen Show (16:9)</PresentationFormat>
  <Paragraphs>181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Loan Default Prediction - Credit Risk Assessment</dc:title>
  <dc:subject>PptxGenJS Presentation</dc:subject>
  <dc:creator>PptxGenJS</dc:creator>
  <cp:lastModifiedBy>Maha feki</cp:lastModifiedBy>
  <cp:revision>11</cp:revision>
  <dcterms:created xsi:type="dcterms:W3CDTF">2026-05-28T08:59:58Z</dcterms:created>
  <dcterms:modified xsi:type="dcterms:W3CDTF">2026-05-29T08:34:02Z</dcterms:modified>
</cp:coreProperties>
</file>